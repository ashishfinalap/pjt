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77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E399F-8852-1647-DE4C-0BED8F2F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00165-969C-2A88-E1A0-A4D64FD95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A716D-F1F5-7E24-21A3-A40ABA6B6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912BD-EA3B-573D-12BC-E186669C7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42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18872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03120" y="73152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91840" y="14630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0" y="21945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017520" y="27432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280160" y="32918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10058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92640" y="15544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1338560" y="210312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058400" y="27432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972800" y="33832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418320" y="35661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05840" y="731520"/>
            <a:ext cx="1097280" cy="45720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103120" y="731520"/>
            <a:ext cx="1188720" cy="73152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0080" y="1188720"/>
            <a:ext cx="365760" cy="118872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0080" y="2194560"/>
            <a:ext cx="1188720" cy="18288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0" y="731520"/>
            <a:ext cx="274320" cy="146304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828800" y="2194560"/>
            <a:ext cx="1188720" cy="54864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0080" y="2377440"/>
            <a:ext cx="640080" cy="91440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280160" y="2743200"/>
            <a:ext cx="1737360" cy="54864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692640" y="1005840"/>
            <a:ext cx="1188720" cy="54864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881360" y="1005840"/>
            <a:ext cx="457200" cy="109728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692640" y="1554480"/>
            <a:ext cx="365760" cy="118872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972800" y="2103120"/>
            <a:ext cx="365760" cy="128016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418320" y="2743200"/>
            <a:ext cx="640080" cy="82296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418320" y="2103120"/>
            <a:ext cx="1920240" cy="1463040"/>
          </a:xfrm>
          <a:prstGeom prst="line">
            <a:avLst/>
          </a:prstGeom>
          <a:noFill/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2377440"/>
            <a:ext cx="10241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Federated Learning for</a:t>
            </a:r>
            <a:endParaRPr lang="en-US" sz="3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 Detection in Resource-Constrained</a:t>
            </a:r>
            <a:endParaRPr lang="en-US" sz="3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Networks</a:t>
            </a:r>
            <a:endParaRPr lang="en-US" sz="3300" dirty="0"/>
          </a:p>
        </p:txBody>
      </p:sp>
      <p:sp>
        <p:nvSpPr>
          <p:cNvPr id="31" name="Shape 29"/>
          <p:cNvSpPr/>
          <p:nvPr/>
        </p:nvSpPr>
        <p:spPr>
          <a:xfrm>
            <a:off x="877824" y="4756673"/>
            <a:ext cx="253288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Tiwary – 23BPS1001</a:t>
            </a:r>
          </a:p>
          <a:p>
            <a:pPr marL="0" indent="0">
              <a:buNone/>
            </a:pPr>
            <a:r>
              <a:rPr lang="en-US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Avishi Prasad - 23BCE1395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20391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600200" y="22768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Problem Statement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00200" y="24048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1879182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29400" y="20391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91095" y="2267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52360" y="24048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34564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00200" y="36443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382219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3291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29400" y="34564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52360" y="3647559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2360" y="382219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8737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00200" y="5069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Module Design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52395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7091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29400" y="48737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452360" y="50566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52360" y="523951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IoT's Expanding Attack Surface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E8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online in 2017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E8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09160" y="2880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IoT devices by 2030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18288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59536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E8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595360" y="2880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attack classes: DDoS, DoS, Probe, R2L, U2R, Malware, Bot, Scan, Unauthorized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096512"/>
            <a:ext cx="11094415" cy="1920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IOT Security is Challenging: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IoT devices are </a:t>
            </a:r>
            <a:r>
              <a:rPr lang="en-IN" sz="1600" b="1" dirty="0">
                <a:solidFill>
                  <a:schemeClr val="bg2">
                    <a:lumMod val="25000"/>
                  </a:schemeClr>
                </a:solidFill>
              </a:rPr>
              <a:t>heterogeneous</a:t>
            </a:r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 and have different traffic patterns.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Devices have limited </a:t>
            </a:r>
            <a:r>
              <a:rPr lang="en-IN" sz="1600" b="1" dirty="0">
                <a:solidFill>
                  <a:schemeClr val="bg2">
                    <a:lumMod val="25000"/>
                  </a:schemeClr>
                </a:solidFill>
              </a:rPr>
              <a:t>CPU, memory, energy and bandwidth</a:t>
            </a:r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IoT networks generate potentially sensitive traffic data.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Centralized ML requires transferring raw data to a server.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Heavy DL models may be impractical for edge devices.</a:t>
            </a:r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Between Privacy, Personalization &amp;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1094415" cy="1380565"/>
          </a:xfrm>
          <a:prstGeom prst="roundRect">
            <a:avLst>
              <a:gd name="adj" fmla="val 5385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804672" y="2102941"/>
            <a:ext cx="310896" cy="310896"/>
          </a:xfrm>
          <a:prstGeom prst="ellipse">
            <a:avLst/>
          </a:prstGeom>
          <a:solidFill>
            <a:srgbClr val="F4C6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DL-IDS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18659" y="1805940"/>
            <a:ext cx="76415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IN" sz="1400" b="1" dirty="0"/>
              <a:t>Strength: </a:t>
            </a:r>
            <a:r>
              <a:rPr lang="en-IN" sz="1400" dirty="0"/>
              <a:t>High detection accuracy , CNN-</a:t>
            </a:r>
            <a:r>
              <a:rPr lang="en-IN" sz="1400" dirty="0" err="1"/>
              <a:t>BiLSTM</a:t>
            </a:r>
            <a:r>
              <a:rPr lang="en-IN" sz="1400" dirty="0"/>
              <a:t> and other DL models learn complex patterns </a:t>
            </a:r>
          </a:p>
          <a:p>
            <a:pPr lvl="0"/>
            <a:endParaRPr lang="en-IN" sz="1400" dirty="0"/>
          </a:p>
          <a:p>
            <a:r>
              <a:rPr lang="en-IN" sz="1400" b="1" dirty="0"/>
              <a:t>Limitation: </a:t>
            </a:r>
            <a:r>
              <a:rPr lang="en-IN" sz="1400" dirty="0"/>
              <a:t>Requires centralized collection of raw traffic , Privacy exposure , High communication cost , Computationally expensive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20926"/>
            <a:ext cx="11094415" cy="1339775"/>
          </a:xfrm>
          <a:prstGeom prst="roundRect">
            <a:avLst>
              <a:gd name="adj" fmla="val 5385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4672" y="3666744"/>
            <a:ext cx="310896" cy="310896"/>
          </a:xfrm>
          <a:prstGeom prst="ellipse">
            <a:avLst/>
          </a:prstGeom>
          <a:solidFill>
            <a:srgbClr val="F7E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25880" y="336499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Federated Learning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31919" y="3172789"/>
            <a:ext cx="7528255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b="1" dirty="0"/>
              <a:t>Strength: </a:t>
            </a:r>
            <a:r>
              <a:rPr lang="en-IN" sz="1400" dirty="0"/>
              <a:t>Raw data remains at clients , Collaborative learning , </a:t>
            </a:r>
            <a:r>
              <a:rPr lang="en-IN" sz="1400" dirty="0" err="1"/>
              <a:t>FedAvg</a:t>
            </a:r>
            <a:r>
              <a:rPr lang="en-IN" sz="1400" dirty="0"/>
              <a:t> / </a:t>
            </a:r>
            <a:r>
              <a:rPr lang="en-IN" sz="1400" dirty="0" err="1"/>
              <a:t>FedAvgM</a:t>
            </a:r>
            <a:r>
              <a:rPr lang="en-IN" sz="1400" dirty="0"/>
              <a:t> reduce need for centralized data </a:t>
            </a:r>
          </a:p>
          <a:p>
            <a:endParaRPr lang="en-IN" sz="1400" dirty="0"/>
          </a:p>
          <a:p>
            <a:r>
              <a:rPr lang="en-IN" sz="1400" b="1" dirty="0"/>
              <a:t>Limitation: </a:t>
            </a:r>
            <a:r>
              <a:rPr lang="en-IN" sz="1400" dirty="0"/>
              <a:t>One global model is shared across clients , IoT traffic is </a:t>
            </a:r>
            <a:r>
              <a:rPr lang="en-IN" sz="1400" b="1" dirty="0"/>
              <a:t>non-IID, </a:t>
            </a:r>
            <a:r>
              <a:rPr lang="en-IN" sz="1400" dirty="0"/>
              <a:t>Global model may not fit every device</a:t>
            </a:r>
          </a:p>
        </p:txBody>
      </p:sp>
      <p:sp>
        <p:nvSpPr>
          <p:cNvPr id="12" name="Shape 10"/>
          <p:cNvSpPr/>
          <p:nvPr/>
        </p:nvSpPr>
        <p:spPr>
          <a:xfrm>
            <a:off x="548639" y="4443984"/>
            <a:ext cx="11094415" cy="1188720"/>
          </a:xfrm>
          <a:prstGeom prst="roundRect">
            <a:avLst>
              <a:gd name="adj" fmla="val 5385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04672" y="4882896"/>
            <a:ext cx="310896" cy="310896"/>
          </a:xfrm>
          <a:prstGeom prst="ellipse">
            <a:avLst/>
          </a:prstGeom>
          <a:solidFill>
            <a:srgbClr val="C9E4D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1325880" y="4679756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Resource-Constrained Devices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31918" y="4581144"/>
            <a:ext cx="75282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IN" sz="1600" b="1" dirty="0"/>
          </a:p>
          <a:p>
            <a:r>
              <a:rPr lang="en-IN" sz="1600" b="1" dirty="0"/>
              <a:t>Constraints: </a:t>
            </a:r>
            <a:r>
              <a:rPr lang="en-IN" sz="1600" dirty="0"/>
              <a:t>Limited CPU  , Limited memory , Limited energy , Limited bandwidth </a:t>
            </a:r>
          </a:p>
          <a:p>
            <a:endParaRPr lang="en-IN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FL-based IDS solutions do not jointly optimize for privacy, per-device personalization, and resource-efficiency in IoT networks.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Personalization Matters in IoT-FL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56909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548640" y="214391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" y="20804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>
                <a:solidFill>
                  <a:schemeClr val="bg1"/>
                </a:solidFill>
              </a:rPr>
              <a:t>IoT clients have </a:t>
            </a:r>
            <a:r>
              <a:rPr lang="en-IN" b="1" dirty="0">
                <a:solidFill>
                  <a:schemeClr val="bg1"/>
                </a:solidFill>
              </a:rPr>
              <a:t>non-IID traffic distributions</a:t>
            </a:r>
            <a:r>
              <a:rPr lang="en-IN" dirty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34116" y="28072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5780" y="279519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7844" y="26771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>
                <a:solidFill>
                  <a:schemeClr val="bg1"/>
                </a:solidFill>
              </a:rPr>
              <a:t>Different devices face different attack surfaces.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379695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5942" y="337404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37844" y="332402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 err="1">
                <a:solidFill>
                  <a:schemeClr val="bg1"/>
                </a:solidFill>
              </a:rPr>
              <a:t>FedAvg</a:t>
            </a:r>
            <a:r>
              <a:rPr lang="en-IN" dirty="0">
                <a:solidFill>
                  <a:schemeClr val="bg1"/>
                </a:solidFill>
              </a:rPr>
              <a:t> learns an average global representation.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5942" y="4066031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73786" y="4066031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93537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>
                <a:solidFill>
                  <a:schemeClr val="bg1"/>
                </a:solidFill>
              </a:rPr>
              <a:t>Global-only models can underperform on device-local/minority attacks.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522208" y="2807208"/>
            <a:ext cx="1243584" cy="124358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522208" y="2807208"/>
            <a:ext cx="12435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Model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766560" y="2057400"/>
            <a:ext cx="2377440" cy="137160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82512" y="167335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82512" y="16733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1417320"/>
            <a:ext cx="0" cy="201168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759952" y="103327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759952" y="10332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144000" y="2057400"/>
            <a:ext cx="2377440" cy="137160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1137392" y="167335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1137392" y="16733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66560" y="3429000"/>
            <a:ext cx="2377440" cy="137160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382512" y="441655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82512" y="44165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44000" y="3429000"/>
            <a:ext cx="0" cy="201168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759952" y="505663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59952" y="505663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0" y="3429000"/>
            <a:ext cx="2377440" cy="1371600"/>
          </a:xfrm>
          <a:prstGeom prst="line">
            <a:avLst/>
          </a:prstGeom>
          <a:noFill/>
          <a:ln w="19050">
            <a:solidFill>
              <a:srgbClr val="3E6A8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1137392" y="4416552"/>
            <a:ext cx="768096" cy="768096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1137392" y="44165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FL for IoT Intrusion Detection  |  Review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FC2C9F-0510-8412-6983-78F985A60D49}"/>
              </a:ext>
            </a:extLst>
          </p:cNvPr>
          <p:cNvSpPr txBox="1"/>
          <p:nvPr/>
        </p:nvSpPr>
        <p:spPr>
          <a:xfrm>
            <a:off x="406818" y="5441486"/>
            <a:ext cx="741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masis MT Pro Black" panose="02040A04050005020304" pitchFamily="18" charset="0"/>
              </a:rPr>
              <a:t>Global knowledge + Local adaptation = Personalized IDS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Research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2240280"/>
            <a:ext cx="457200" cy="45720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337560"/>
            <a:ext cx="21854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federated learning framework for IoT intrusion detection that adapts the global model per client.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02152" y="19659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58184" y="2240280"/>
            <a:ext cx="457200" cy="45720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58184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58184" y="288036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58184" y="3337560"/>
            <a:ext cx="21854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resource-constrained edge devices via lightweight local models and reduced communication overhead.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55664" y="19659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711696" y="2240280"/>
            <a:ext cx="457200" cy="45720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11696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11696" y="288036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11696" y="3337560"/>
            <a:ext cx="21854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by keeping raw traffic on-device and sharing only model updates.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09176" y="19659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665208" y="2240280"/>
            <a:ext cx="457200" cy="45720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665208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65208" y="2880360"/>
            <a:ext cx="2185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65208" y="3337560"/>
            <a:ext cx="21854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benchmark IoT/IDS datasets under realistic non-IID conditions, comparing to FedAvg/FedAvgM baselines.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Base Papers Anchoring This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72543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F6F8"/>
          </a:solidFill>
          <a:ln w="12700">
            <a:solidFill>
              <a:srgbClr val="E4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51242" y="160943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Zahid &amp; Bharati (2025)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51242" y="2071385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cybersecurity in IoT systems: a hybrid deep learning approach for real-time attack detection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1242" y="30403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BiLSTM hybrid, LASSO feature selection, SMOTE class balancing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1242" y="3808835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/ 99.8% / 98.0% accuracy on KDDCup99, NSL-KDD, CIC-IDS-2017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1242" y="46863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B2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600" i="1" dirty="0">
                <a:solidFill>
                  <a:srgbClr val="B2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training — no privacy preservation, no federated / personalized element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8902" y="1454614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2F6F8"/>
          </a:solidFill>
          <a:ln w="12700">
            <a:solidFill>
              <a:srgbClr val="E4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11504" y="163220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Khraisat et al. (2025)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13855" y="2071385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 for intrusion detection in IoT environments: a privacy-preserving strategy (PEIoT-DS)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13855" y="300452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FedAvg vs. FedAvgM aggregation with a deep autoencoder, SMPC + differential privacy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387320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95.05% accuracy on N-BaIoT (9 devices), FedAvgM converges faster (17 vs 24 rounds)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474188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B2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600" i="1" dirty="0">
                <a:solidFill>
                  <a:srgbClr val="B2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global model — no per-device personalization; non-IID handling is basic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242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>
                <a:solidFill>
                  <a:schemeClr val="accent1"/>
                </a:solidFill>
                <a:latin typeface="Aptos" panose="020B0004020202020204" pitchFamily="34" charset="0"/>
              </a:rPr>
              <a:t>Our work → Personalized + Resource-aware Federated IDS</a:t>
            </a:r>
            <a:endParaRPr lang="en-US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C110FC-0167-C8F1-0C3C-C26A3983FDE0}"/>
              </a:ext>
            </a:extLst>
          </p:cNvPr>
          <p:cNvSpPr txBox="1"/>
          <p:nvPr/>
        </p:nvSpPr>
        <p:spPr>
          <a:xfrm>
            <a:off x="548640" y="5782978"/>
            <a:ext cx="1012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Paper 1 → Strong IDS model                                                          Paper 2 → Privacy-preserving Federated IDS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PERSONALIZED FL FOR IDS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&amp; Non-IID-Aware Federated IDS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60520" y="1600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32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45336"/>
            <a:ext cx="11109960" cy="384048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51960" y="158191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23960" y="158191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IN" sz="1400" b="1" dirty="0"/>
              <a:t>Personalized federated learning-based IDS: poisoning attack and </a:t>
            </a:r>
            <a:r>
              <a:rPr lang="en-IN" sz="1400" b="1" dirty="0" err="1"/>
              <a:t>defense</a:t>
            </a:r>
            <a:endParaRPr lang="en-US" sz="1400" b="1" dirty="0"/>
          </a:p>
        </p:txBody>
      </p:sp>
      <p:sp>
        <p:nvSpPr>
          <p:cNvPr id="13" name="Text 11"/>
          <p:cNvSpPr/>
          <p:nvPr/>
        </p:nvSpPr>
        <p:spPr>
          <a:xfrm>
            <a:off x="4251960" y="205740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PFL-based IDS; studies poisoning attacks and defenses in personalized aggregation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23960" y="205740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personalization itself is under-studied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761488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endParaRPr lang="en-IN" sz="1200" b="1" dirty="0"/>
          </a:p>
          <a:p>
            <a:pPr>
              <a:lnSpc>
                <a:spcPct val="105000"/>
              </a:lnSpc>
            </a:pPr>
            <a:r>
              <a:rPr lang="en-IN" sz="1400" b="1" dirty="0"/>
              <a:t>Robust PFL for IoT IDS (2025), Computers &amp; Security</a:t>
            </a:r>
            <a:endParaRPr lang="en-US" sz="1400" b="1" dirty="0"/>
          </a:p>
        </p:txBody>
      </p:sp>
      <p:sp>
        <p:nvSpPr>
          <p:cNvPr id="16" name="Text 14"/>
          <p:cNvSpPr/>
          <p:nvPr/>
        </p:nvSpPr>
        <p:spPr>
          <a:xfrm>
            <a:off x="4251960" y="2816352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 with FedAMP-style attentive message passing across heterogeneous clients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fairness vs per-client accuracy trade-off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3575304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400" b="1" dirty="0">
              <a:solidFill>
                <a:srgbClr val="0B25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PP-HFFL (2025), fog-assisted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51960" y="3575304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fog + PFL with differential privacy on RT-IoT2022 &amp; CIC-IoT2023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3575304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cost of hierarchical fog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448556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(2025/26), arXiv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51960" y="4334256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knowledge distillation for personalized FL-IDS in heterogeneous IoT nets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23960" y="4334256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overhead on constrained clients unresolved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047488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5093208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PROTEAN (2025), arXiv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51960" y="5093208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Prototype-based knowledge sharing for non-IID federated IDS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23960" y="5093208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exchange privacy risk not fully quantified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G-PFL-ID (2026), IoT journal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51960" y="585216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Graph-driven PFL, unsupervised DeepSVDD + FedReg on IoT-23 / N-BaIoT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23960" y="585216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setting sacrifices some detection precision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LIGHTWEIGHT / RESOURCE-AWARE FL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&amp; Resource-Constrained FL-IDS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60520" y="1600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32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45336"/>
            <a:ext cx="11109960" cy="384048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51960" y="158191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23960" y="158191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Belarbi et al. (2023), GLOBECOM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205740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DBN/DNN IDS; shows up to 50% accuracy drop under non-IID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23960" y="205740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non-IID as the core open problem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816352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FL-IDS (2023), PMC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2816352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+ semi-supervised sampling for constrained IoT clients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Precision/recall trade-off from summary-statistic sharing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9" name="Text 17"/>
          <p:cNvSpPr/>
          <p:nvPr/>
        </p:nvSpPr>
        <p:spPr>
          <a:xfrm>
            <a:off x="640080" y="3575304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FL botnet detection (2025), arXiv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51960" y="3575304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lightweight ML (DT, KNN, SVM, LR) under FL for botnet detection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3575304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shallow models; no deep personalization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334256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EAFRA/6G-CPS framework (2025/26), Sci.Rep.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51960" y="4334256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Energy-adaptive federated reinforcement aggregation for edge-centric 6G IoT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23960" y="4334256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Reinforcement-tuned aggregation adds design complexity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047488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6" name="Text 24"/>
          <p:cNvSpPr/>
          <p:nvPr/>
        </p:nvSpPr>
        <p:spPr>
          <a:xfrm>
            <a:off x="640080" y="5093208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FL-IDS on ESP32 (2026), MDPI Future Internet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51960" y="5093208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Hardware-validated lightweight cryptography (SPECK/SIMON) for MCU-class FL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23960" y="5093208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overhead on ultra-constrained MCUs still notable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FL-IDS Resource-Constrained IoT (2026), TechRxiv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51960" y="585216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FL-IDS tailored to resource-bound IoT deployments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23960" y="585216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not addressed alongside efficiency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AGGREGATION, HETEROGENEITY &amp; SECURITY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Strategies &amp; Data Heterogeneity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60520" y="1600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325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45336"/>
            <a:ext cx="11109960" cy="384048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(Year)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51960" y="158191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23960" y="158191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Addressed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Alsaleh et al. (2025), Sensors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205740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Heterogeneity-aware semi-decentralized FL + BiLSTM for lightweight IoT IDS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23960" y="205740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Semi-decentralized coordination overhead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816352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Anwer et al. (2025), Ad Hoc Networks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2816352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+ LSTM for advanced IIoT intrusion 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heterogeneity not client-personalized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29584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9" name="Text 17"/>
          <p:cNvSpPr/>
          <p:nvPr/>
        </p:nvSpPr>
        <p:spPr>
          <a:xfrm>
            <a:off x="640080" y="3575304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Karunamurthy et al. (2025), Sci. Reports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51960" y="3575304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FL aggregation for IoT intrusion detection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3575304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targets global, not per-client, accuracy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334256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FedP3E (2025), arXiv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51960" y="4334256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prototype exchange for non-IID malware detection, cross-silo FL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23960" y="4334256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Cross-silo assumptions weaker for cross-device IoT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047488"/>
            <a:ext cx="11109960" cy="758952"/>
          </a:xfrm>
          <a:prstGeom prst="rect">
            <a:avLst/>
          </a:prstGeom>
          <a:solidFill>
            <a:srgbClr val="F2F6F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6" name="Text 24"/>
          <p:cNvSpPr/>
          <p:nvPr/>
        </p:nvSpPr>
        <p:spPr>
          <a:xfrm>
            <a:off x="640080" y="5093208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FL-enabled lightweight WSN-IDS (2025), Sci.Direct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51960" y="5093208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GRU under FL for DDoS detection in smart-city WSNs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23960" y="5093208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attack-type focus (DDoS only)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33375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Hamad et al. (2025), IEEE Access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51960" y="5852160"/>
            <a:ext cx="42976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FL approaches for IoT intrusion detection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23960" y="5852160"/>
            <a:ext cx="274320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— highlights personalization + efficiency as open gaps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This Work Targets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804672" y="19933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E8C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80467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joint optimization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Personalization, privacy, and resource-efficiency are studied in isolation, rarely together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Shape 8"/>
          <p:cNvSpPr/>
          <p:nvPr/>
        </p:nvSpPr>
        <p:spPr>
          <a:xfrm>
            <a:off x="6519672" y="19933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E8C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651967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Non-IID accuracy loss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19672" y="265176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Global-only FL (FedAvg/FedAvgM) loses up to ~50% accuracy under realistic device heterogeneity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Shape 13"/>
          <p:cNvSpPr/>
          <p:nvPr/>
        </p:nvSpPr>
        <p:spPr>
          <a:xfrm>
            <a:off x="804672" y="4233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E8C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04672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Constrained-device blind spot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6384" y="4736592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personalized FL methods (distillation, prototypes, graphs) assume capable client hardware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48402" y="3998707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Shape 18"/>
          <p:cNvSpPr/>
          <p:nvPr/>
        </p:nvSpPr>
        <p:spPr>
          <a:xfrm>
            <a:off x="6519672" y="4233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E8C5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21" name="Text 19"/>
          <p:cNvSpPr/>
          <p:nvPr/>
        </p:nvSpPr>
        <p:spPr>
          <a:xfrm>
            <a:off x="6519672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78040" y="4206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real IoT validation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19672" y="4892040"/>
            <a:ext cx="4882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approaches are validated on generic benchmarks (MNIST/CIFAR) rather than IoT-specific traffic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3221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4185" y="883921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Overview: Personalized Resource-Aware FL-IDS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Client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23160" y="2720340"/>
            <a:ext cx="256032" cy="0"/>
          </a:xfrm>
          <a:prstGeom prst="line">
            <a:avLst/>
          </a:prstGeom>
          <a:noFill/>
          <a:ln w="25400">
            <a:solidFill>
              <a:srgbClr val="0B2540"/>
            </a:solidFill>
            <a:prstDash val="solid"/>
            <a:tailEnd type="triangle"/>
          </a:ln>
        </p:spPr>
        <p:txBody>
          <a:bodyPr/>
          <a:lstStyle/>
          <a:p>
            <a:endParaRPr lang="en-IN" sz="3200"/>
          </a:p>
        </p:txBody>
      </p:sp>
      <p:sp>
        <p:nvSpPr>
          <p:cNvPr id="7" name="Shape 5"/>
          <p:cNvSpPr/>
          <p:nvPr/>
        </p:nvSpPr>
        <p:spPr>
          <a:xfrm>
            <a:off x="2679192" y="219456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8" name="Text 6"/>
          <p:cNvSpPr/>
          <p:nvPr/>
        </p:nvSpPr>
        <p:spPr>
          <a:xfrm>
            <a:off x="2679192" y="219456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Feature Select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53712" y="2720340"/>
            <a:ext cx="256032" cy="0"/>
          </a:xfrm>
          <a:prstGeom prst="line">
            <a:avLst/>
          </a:prstGeom>
          <a:noFill/>
          <a:ln w="25400">
            <a:solidFill>
              <a:srgbClr val="0B2540"/>
            </a:solidFill>
            <a:prstDash val="solid"/>
            <a:tailEnd type="triangle"/>
          </a:ln>
        </p:spPr>
        <p:txBody>
          <a:bodyPr/>
          <a:lstStyle/>
          <a:p>
            <a:endParaRPr lang="en-IN" sz="3200"/>
          </a:p>
        </p:txBody>
      </p:sp>
      <p:sp>
        <p:nvSpPr>
          <p:cNvPr id="10" name="Shape 8"/>
          <p:cNvSpPr/>
          <p:nvPr/>
        </p:nvSpPr>
        <p:spPr>
          <a:xfrm>
            <a:off x="4809744" y="219456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11" name="Text 9"/>
          <p:cNvSpPr/>
          <p:nvPr/>
        </p:nvSpPr>
        <p:spPr>
          <a:xfrm>
            <a:off x="4809744" y="219456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84264" y="2720340"/>
            <a:ext cx="256032" cy="0"/>
          </a:xfrm>
          <a:prstGeom prst="line">
            <a:avLst/>
          </a:prstGeom>
          <a:noFill/>
          <a:ln w="25400">
            <a:solidFill>
              <a:srgbClr val="0B2540"/>
            </a:solidFill>
            <a:prstDash val="solid"/>
            <a:tailEnd type="triangle"/>
          </a:ln>
        </p:spPr>
        <p:txBody>
          <a:bodyPr/>
          <a:lstStyle/>
          <a:p>
            <a:endParaRPr lang="en-IN" sz="3200"/>
          </a:p>
        </p:txBody>
      </p:sp>
      <p:sp>
        <p:nvSpPr>
          <p:cNvPr id="13" name="Shape 11"/>
          <p:cNvSpPr/>
          <p:nvPr/>
        </p:nvSpPr>
        <p:spPr>
          <a:xfrm>
            <a:off x="6940296" y="219456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14" name="Text 12"/>
          <p:cNvSpPr/>
          <p:nvPr/>
        </p:nvSpPr>
        <p:spPr>
          <a:xfrm>
            <a:off x="6940296" y="219456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14816" y="2720340"/>
            <a:ext cx="256032" cy="0"/>
          </a:xfrm>
          <a:prstGeom prst="line">
            <a:avLst/>
          </a:prstGeom>
          <a:noFill/>
          <a:ln w="25400">
            <a:solidFill>
              <a:srgbClr val="0B2540"/>
            </a:solidFill>
            <a:prstDash val="solid"/>
            <a:tailEnd type="triangle"/>
          </a:ln>
        </p:spPr>
        <p:txBody>
          <a:bodyPr/>
          <a:lstStyle/>
          <a:p>
            <a:endParaRPr lang="en-IN" sz="3200"/>
          </a:p>
        </p:txBody>
      </p:sp>
      <p:sp>
        <p:nvSpPr>
          <p:cNvPr id="16" name="Shape 14"/>
          <p:cNvSpPr/>
          <p:nvPr/>
        </p:nvSpPr>
        <p:spPr>
          <a:xfrm>
            <a:off x="9070848" y="219456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17" name="Text 15"/>
          <p:cNvSpPr/>
          <p:nvPr/>
        </p:nvSpPr>
        <p:spPr>
          <a:xfrm>
            <a:off x="9070848" y="219456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(FedAvgM + P)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08760" y="3587675"/>
            <a:ext cx="756208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tailEnd type="triangle"/>
          </a:ln>
        </p:spPr>
        <p:txBody>
          <a:bodyPr/>
          <a:lstStyle/>
          <a:p>
            <a:endParaRPr lang="en-IN" sz="3200"/>
          </a:p>
        </p:txBody>
      </p:sp>
      <p:sp>
        <p:nvSpPr>
          <p:cNvPr id="19" name="Text 17"/>
          <p:cNvSpPr/>
          <p:nvPr/>
        </p:nvSpPr>
        <p:spPr>
          <a:xfrm>
            <a:off x="1508760" y="36987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global model redistributed each round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79"/>
            <a:ext cx="3566160" cy="2246551"/>
          </a:xfrm>
          <a:prstGeom prst="roundRect">
            <a:avLst>
              <a:gd name="adj" fmla="val 4211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5015485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traffic never leaves the device — only encrypted, differentially-private model updates are shared.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4840" y="4297680"/>
            <a:ext cx="3566160" cy="2176272"/>
          </a:xfrm>
          <a:prstGeom prst="roundRect">
            <a:avLst>
              <a:gd name="adj" fmla="val 4211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24" name="Text 22"/>
          <p:cNvSpPr/>
          <p:nvPr/>
        </p:nvSpPr>
        <p:spPr>
          <a:xfrm>
            <a:off x="466344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 Layer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63440" y="5037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adaptation step (e.g., fine-tuning head / prototype alignment) tailors the global model to each client's traffic.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21040" y="4297679"/>
            <a:ext cx="3566160" cy="2176265"/>
          </a:xfrm>
          <a:prstGeom prst="roundRect">
            <a:avLst>
              <a:gd name="adj" fmla="val 4211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27" name="Text 25"/>
          <p:cNvSpPr/>
          <p:nvPr/>
        </p:nvSpPr>
        <p:spPr>
          <a:xfrm>
            <a:off x="854964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Resource-Awareness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549640" y="4994866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compression, quantization, and adaptive local-epoch scheduling keep training within edge-device budgets.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 &amp; Training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5" name="Text 3"/>
          <p:cNvSpPr/>
          <p:nvPr/>
        </p:nvSpPr>
        <p:spPr>
          <a:xfrm>
            <a:off x="749808" y="180136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Local Feature Engineering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213055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statistical/flow features (as in N-BaIoT / CIC-IDS-2017 style) with LASSO-based selection to cut dimensionality before training.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8" name="Text 6"/>
          <p:cNvSpPr/>
          <p:nvPr/>
        </p:nvSpPr>
        <p:spPr>
          <a:xfrm>
            <a:off x="6556248" y="180136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Base Global Model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56248" y="213055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CNN encoder + shallow classifier head, sized for edge inference — far lighter than the CNN-BiLSTM baseline.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1" name="Text 9"/>
          <p:cNvSpPr/>
          <p:nvPr/>
        </p:nvSpPr>
        <p:spPr>
          <a:xfrm>
            <a:off x="749808" y="331012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Personalization Step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808" y="363931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FedAvgM round, each client fine-tunes only the classifier head (or applies a prototype/meta-learning adaptation) on local data — global encoder stays shared.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320040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4" name="Text 12"/>
          <p:cNvSpPr/>
          <p:nvPr/>
        </p:nvSpPr>
        <p:spPr>
          <a:xfrm>
            <a:off x="6556248" y="331012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Heterogeneity Handling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56248" y="363931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clustering / similarity-weighted aggregation groups devices with similar traffic before averaging, reducing non-IID drift.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7" name="Text 15"/>
          <p:cNvSpPr/>
          <p:nvPr/>
        </p:nvSpPr>
        <p:spPr>
          <a:xfrm>
            <a:off x="749808" y="481888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Resource Budgeting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9808" y="514807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epochs, batch size, and update frequency are adapted per device based on a simple compute/energy profile.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4709160"/>
            <a:ext cx="5486400" cy="1325880"/>
          </a:xfrm>
          <a:prstGeom prst="roundRect">
            <a:avLst>
              <a:gd name="adj" fmla="val 4828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20" name="Text 18"/>
          <p:cNvSpPr/>
          <p:nvPr/>
        </p:nvSpPr>
        <p:spPr>
          <a:xfrm>
            <a:off x="6556248" y="4818888"/>
            <a:ext cx="5084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Privacy Layer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56248" y="5148072"/>
            <a:ext cx="50840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noise + secure aggregation on all transmitted updates, following the SMPC/DP pattern used in PEIoT-DS.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0894"/>
            <a:ext cx="3566160" cy="1878106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" name="Shape 3"/>
          <p:cNvSpPr/>
          <p:nvPr/>
        </p:nvSpPr>
        <p:spPr>
          <a:xfrm>
            <a:off x="777240" y="1847805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5880" y="179451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Client Module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capture, local preprocessing, feature extraction, lightweight local model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70832" y="1587066"/>
            <a:ext cx="3566160" cy="1878106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0" name="Shape 8"/>
          <p:cNvSpPr/>
          <p:nvPr/>
        </p:nvSpPr>
        <p:spPr>
          <a:xfrm>
            <a:off x="4599432" y="1775638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11" name="Text 9"/>
          <p:cNvSpPr/>
          <p:nvPr/>
        </p:nvSpPr>
        <p:spPr>
          <a:xfrm>
            <a:off x="4599432" y="1765555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70932" y="1691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 Module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9432" y="2468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fine-tuning / prototype adaptation applied after each global update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93024" y="1587066"/>
            <a:ext cx="3566160" cy="1841934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5" name="Shape 13"/>
          <p:cNvSpPr/>
          <p:nvPr/>
        </p:nvSpPr>
        <p:spPr>
          <a:xfrm>
            <a:off x="8421624" y="1822233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16" name="Text 14"/>
          <p:cNvSpPr/>
          <p:nvPr/>
        </p:nvSpPr>
        <p:spPr>
          <a:xfrm>
            <a:off x="8421624" y="1784335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24544" y="174793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Module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21624" y="2468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noise injection + secure aggregation (SMPC) before transmission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3566160" cy="2011680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0" name="Shape 18"/>
          <p:cNvSpPr/>
          <p:nvPr/>
        </p:nvSpPr>
        <p:spPr>
          <a:xfrm>
            <a:off x="777240" y="3886200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21" name="Text 19"/>
          <p:cNvSpPr/>
          <p:nvPr/>
        </p:nvSpPr>
        <p:spPr>
          <a:xfrm>
            <a:off x="77724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25880" y="384962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Server Module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7240" y="46405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FedAvgM-based aggregation with similarity-weighted, cluster-aware combination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70832" y="3685032"/>
            <a:ext cx="3566160" cy="2011680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5" name="Shape 23"/>
          <p:cNvSpPr/>
          <p:nvPr/>
        </p:nvSpPr>
        <p:spPr>
          <a:xfrm>
            <a:off x="4599432" y="3886200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26" name="Text 24"/>
          <p:cNvSpPr/>
          <p:nvPr/>
        </p:nvSpPr>
        <p:spPr>
          <a:xfrm>
            <a:off x="4599432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148072" y="384962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Monitor Module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99432" y="4624533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per-device compute/energy budget; adjusts local epochs &amp; update frequency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93024" y="3685032"/>
            <a:ext cx="3566160" cy="2011680"/>
          </a:xfrm>
          <a:prstGeom prst="roundRect">
            <a:avLst>
              <a:gd name="adj" fmla="val 4211"/>
            </a:avLst>
          </a:prstGeom>
          <a:solidFill>
            <a:srgbClr val="112E48"/>
          </a:solidFill>
          <a:ln w="12700">
            <a:solidFill>
              <a:srgbClr val="1F4A63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0" name="Shape 28"/>
          <p:cNvSpPr/>
          <p:nvPr/>
        </p:nvSpPr>
        <p:spPr>
          <a:xfrm>
            <a:off x="8421624" y="3886200"/>
            <a:ext cx="411480" cy="411480"/>
          </a:xfrm>
          <a:prstGeom prst="ellipse">
            <a:avLst/>
          </a:prstGeom>
          <a:solidFill>
            <a:srgbClr val="2FE8C5"/>
          </a:solidFill>
          <a:ln/>
        </p:spPr>
        <p:txBody>
          <a:bodyPr/>
          <a:lstStyle/>
          <a:p>
            <a:endParaRPr lang="en-IN" sz="3200"/>
          </a:p>
        </p:txBody>
      </p:sp>
      <p:sp>
        <p:nvSpPr>
          <p:cNvPr id="31" name="Text 29"/>
          <p:cNvSpPr/>
          <p:nvPr/>
        </p:nvSpPr>
        <p:spPr>
          <a:xfrm>
            <a:off x="8421624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970264" y="384962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Module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421624" y="4562856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FPR, convergence rounds, communication cost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E8A0D-12C7-4C54-761D-47A8C3F5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B9A2FC-2144-5297-592A-1B6D86C507ED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DDB055-217F-A53D-4C8E-06ED813790D5}"/>
              </a:ext>
            </a:extLst>
          </p:cNvPr>
          <p:cNvSpPr/>
          <p:nvPr/>
        </p:nvSpPr>
        <p:spPr>
          <a:xfrm>
            <a:off x="534781" y="14859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3E35AF-0A1B-149A-D42A-BD609E1FD6FE}"/>
              </a:ext>
            </a:extLst>
          </p:cNvPr>
          <p:cNvSpPr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3B834C8-F54A-3A87-1B1B-BD0C91F014AD}"/>
              </a:ext>
            </a:extLst>
          </p:cNvPr>
          <p:cNvSpPr/>
          <p:nvPr/>
        </p:nvSpPr>
        <p:spPr>
          <a:xfrm>
            <a:off x="77724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CDD3B33-F2D3-B0B4-7BA8-0F58592E2D79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CBC9D4E-5A96-A084-76CD-13AEC9435A35}"/>
              </a:ext>
            </a:extLst>
          </p:cNvPr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CDDA7D0-D19B-11CB-3832-C0FDACA6F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37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Metrics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819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Datasets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09397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N-BaIoT — </a:t>
            </a: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real IoT devices, Mirai/BASHLITE/Gafgyt botnet traffic — natural non-IID split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9" name="Text 7"/>
          <p:cNvSpPr/>
          <p:nvPr/>
        </p:nvSpPr>
        <p:spPr>
          <a:xfrm>
            <a:off x="548640" y="27706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7157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CIC-IDS-2017 / NSL-KDD / KDDCup99 — </a:t>
            </a: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against the centralized CNN-BiLSTM hybrid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2" name="Text 10"/>
          <p:cNvSpPr/>
          <p:nvPr/>
        </p:nvSpPr>
        <p:spPr>
          <a:xfrm>
            <a:off x="548640" y="33924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TON_IoT / Bot-IoT (stretch goal) — </a:t>
            </a: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IoT-specific traffic for generalization testing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5636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20939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 (per class)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2770632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9" name="Text 17"/>
          <p:cNvSpPr/>
          <p:nvPr/>
        </p:nvSpPr>
        <p:spPr>
          <a:xfrm>
            <a:off x="6309360" y="27706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27157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 (FPR) and AUC-ROC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339242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22" name="Text 20"/>
          <p:cNvSpPr/>
          <p:nvPr/>
        </p:nvSpPr>
        <p:spPr>
          <a:xfrm>
            <a:off x="6309360" y="33924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75120" y="3337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Rounds-to-convergence vs FedAvg / FedAvgM baselines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4014216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25" name="Text 23"/>
          <p:cNvSpPr/>
          <p:nvPr/>
        </p:nvSpPr>
        <p:spPr>
          <a:xfrm>
            <a:off x="6309360" y="40142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75120" y="39593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payload per round (KB/client)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4636008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28" name="Text 26"/>
          <p:cNvSpPr/>
          <p:nvPr/>
        </p:nvSpPr>
        <p:spPr>
          <a:xfrm>
            <a:off x="6309360" y="46360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675120" y="45811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 time &amp; memory footprint on constrained hardware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277702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31" name="Text 29"/>
          <p:cNvSpPr/>
          <p:nvPr/>
        </p:nvSpPr>
        <p:spPr>
          <a:xfrm>
            <a:off x="815187" y="5330952"/>
            <a:ext cx="10561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target: </a:t>
            </a:r>
            <a:r>
              <a:rPr lang="en-US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 FedAvg (94.05% acc / 5.1% FPR) and FedAvgM (95.05% acc / 3.9% FPR) on N-BaIoT while reducing per-device accuracy variance — the core signature of successful personalization.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of This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5" name="Shape 3"/>
          <p:cNvSpPr/>
          <p:nvPr/>
        </p:nvSpPr>
        <p:spPr>
          <a:xfrm>
            <a:off x="777240" y="2075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38528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 IDS that personalizes per client without sacrificing the privacy guarantees of FedAvg/FedAvgM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E4EAEE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9" name="Shape 7"/>
          <p:cNvSpPr/>
          <p:nvPr/>
        </p:nvSpPr>
        <p:spPr>
          <a:xfrm>
            <a:off x="777240" y="31729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0" name="Text 8"/>
          <p:cNvSpPr/>
          <p:nvPr/>
        </p:nvSpPr>
        <p:spPr>
          <a:xfrm>
            <a:off x="77724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035808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local model architecture designed explicitly for resource-constrained IoT hardware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3" name="Shape 11"/>
          <p:cNvSpPr/>
          <p:nvPr/>
        </p:nvSpPr>
        <p:spPr>
          <a:xfrm>
            <a:off x="777240" y="42702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4" name="Text 12"/>
          <p:cNvSpPr/>
          <p:nvPr/>
        </p:nvSpPr>
        <p:spPr>
          <a:xfrm>
            <a:off x="77724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133088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similarity/cluster-aware aggregation strategy that mitigates non-IID accuracy loss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E4EAEE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7" name="Shape 15"/>
          <p:cNvSpPr/>
          <p:nvPr/>
        </p:nvSpPr>
        <p:spPr>
          <a:xfrm>
            <a:off x="777240" y="5367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8" name="Text 16"/>
          <p:cNvSpPr/>
          <p:nvPr/>
        </p:nvSpPr>
        <p:spPr>
          <a:xfrm>
            <a:off x="77724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230368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empirical comparison against the two base papers' centralized-hybrid and vanilla-FL approaches on shared datasets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 (selected)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Zahid, M., Bharati, T.S. (2025). Enhancing cybersecurity in IoT systems: a hybrid deep learning approach for real-time attack detection. Discover IoT,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Khraisat, A. et al. (2025). Federated learning for intrusion detection in IoT environments: a privacy-preserving strategy. Discover IoT, 5:72.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Thein, T.T., Shiraishi, Y., Morii, M. (2024). Personalized federated learning-based IDS: poisoning attack and defense. FGCS, 153, 182-192.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McMahan, B. et al. (2017). Communication-efficient learning of deep networks from decentralized data. AISTATS / PMLR.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Hsu, T-M.H., Qi, H., Brown, M. (2019). Measuring the effects of non-identical data distribution for federated visual classification. arXiv:1909.06335.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Hamad, N.A. et al. (2025). Systematic Analysis of FL Approaches for Intrusion Detection in IoT. IEEE Access, 13.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list of 18–20 recent papers with methodology, gap, and links: see companion reference sheet.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312" y="254373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E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41248" y="402336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Personalized Federated Learning for Intrusion Detection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Resource-Constrained IoT Networks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2013</Words>
  <Application>Microsoft Office PowerPoint</Application>
  <PresentationFormat>Widescreen</PresentationFormat>
  <Paragraphs>328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Amasis MT Pro Black</vt:lpstr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Namrata Prasad</cp:lastModifiedBy>
  <cp:revision>3</cp:revision>
  <dcterms:created xsi:type="dcterms:W3CDTF">2026-08-18T07:54:50Z</dcterms:created>
  <dcterms:modified xsi:type="dcterms:W3CDTF">2026-08-18T10:13:53Z</dcterms:modified>
</cp:coreProperties>
</file>