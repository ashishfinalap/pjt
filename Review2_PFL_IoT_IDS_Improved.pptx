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26"/>
    <p:sldId id="274" r:id="rId25"/>
    <p:sldId id="268" r:id="rId14"/>
    <p:sldId id="269" r:id="rId15"/>
    <p:sldId id="270" r:id="rId16"/>
    <p:sldId id="271" r:id="rId17"/>
    <p:sldId id="276" r:id="rId2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4.xml"/><Relationship Id="rId26" Type="http://schemas.openxmlformats.org/officeDocument/2006/relationships/slide" Target="slides/slide13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77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1887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03120" y="7315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91840" y="1463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0" y="21945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017520" y="27432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80160" y="3291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1005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92640" y="15544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1338560" y="21031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8400" y="27432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972800" y="33832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418320" y="35661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05840" y="731520"/>
            <a:ext cx="1097280" cy="45720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103120" y="731520"/>
            <a:ext cx="1188720" cy="73152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1188720"/>
            <a:ext cx="365760" cy="118872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" y="2194560"/>
            <a:ext cx="1188720" cy="18288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0" y="731520"/>
            <a:ext cx="274320" cy="14630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828800" y="2194560"/>
            <a:ext cx="1188720" cy="5486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" y="2377440"/>
            <a:ext cx="640080" cy="91440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280160" y="2743200"/>
            <a:ext cx="1737360" cy="5486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881360" y="1005840"/>
            <a:ext cx="457200" cy="109728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692640" y="1554480"/>
            <a:ext cx="365760" cy="118872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972800" y="2103120"/>
            <a:ext cx="365760" cy="128016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418320" y="2743200"/>
            <a:ext cx="640080" cy="82296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418320" y="2103120"/>
            <a:ext cx="1920240" cy="14630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2377440"/>
            <a:ext cx="10241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Federated Learning for</a:t>
            </a:r>
            <a:endParaRPr lang="en-US" sz="3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in Resource-Constrained</a:t>
            </a:r>
            <a:endParaRPr lang="en-US" sz="3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Networks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841248" y="50749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2960" y="5230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Tiwary – 23BPS1001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Avishi Prasad - 23BCE1395</a:t>
            </a:r>
          </a:p>
        </p:txBody>
      </p:sp>
      <p:sp>
        <p:nvSpPr>
          <p:cNvPr id="33" name="Text 31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IoT Cybersecurity  ·  Federated Learning  ·  Deep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20391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2039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threat landscape and why generic FL falls short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29400" y="20391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52360" y="2039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4048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recent works across FL-IDS, personalization, lightweight FL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8221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approaches leave unresolved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291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2940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5236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8221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resource-aware federated IDS design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8737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8737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Module Design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2395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personalization, and aggregation components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709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29400" y="48737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E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52360" y="48737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52395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metrics, and expected outcomes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IoT's Expanding Attack Surface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online in 2017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0916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IoT devices by 2030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21040" y="1828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9536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9536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attack classes: DDoS, DoS, Probe,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R2L, U2R, Malware, Bot, Scan, Unauthorized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110944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centralized IDS struggles: </a:t>
            </a: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are heterogeneous, resource-limited, and generate sensitive network traffic. Shipping raw data to a central server for training creates privacy exposure, communication overhead, and single points of failure — while limited on-device compute rules out heavyweight deep models.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Privacy, Personalization &amp;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2313432"/>
            <a:ext cx="310896" cy="310896"/>
          </a:xfrm>
          <a:prstGeom prst="ellipse">
            <a:avLst/>
          </a:prstGeom>
          <a:solidFill>
            <a:srgbClr val="F4C6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DL-IDS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2011680"/>
            <a:ext cx="75282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accuracy (e.g., CNN-BiLSTM hybrids) but requires raw traffic on a central server — a privacy and bandwidth liability for IoT.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4672" y="3666744"/>
            <a:ext cx="310896" cy="310896"/>
          </a:xfrm>
          <a:prstGeom prst="ellipse">
            <a:avLst/>
          </a:prstGeom>
          <a:solidFill>
            <a:srgbClr val="F7E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25880" y="33649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Federated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3364992"/>
            <a:ext cx="75282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privacy (FedAvg / FedAvgM) but assumes one global model fits all clients — accuracy degrades sharply under non-IID, device-specific traffic patterns.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81144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672" y="5020056"/>
            <a:ext cx="310896" cy="310896"/>
          </a:xfrm>
          <a:prstGeom prst="ellipse">
            <a:avLst/>
          </a:prstGeom>
          <a:solidFill>
            <a:srgbClr val="C9E4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25880" y="4718304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Resource-Constrained Devices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718304"/>
            <a:ext cx="75282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nodes have tight compute, memory, and energy budgets — most FL-IDS research ignores this and assumes capable client hardware.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existing FL-based IDS solutions do not jointly optimize for privacy, per-device personalization, and resource-efficiency in IoT networks.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Personalization Matters in IoT-FL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 model under FedAvg is pulled toward the average client — it under-serves devices whose traffic (and attack exposure) differs from the norm.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8254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cameras, door locks, and sensors see very different traffic distributions (non-IID)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021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502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4472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Device-specific attack surfaces demand device-specific decision boundaries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4123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global models under-detect minority / device-local attack types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745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6908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adapts the shared global model to each client with minimal extra cost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22208" y="2807208"/>
            <a:ext cx="1243584" cy="12435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22208" y="2807208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20574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82512" y="16733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82512" y="16733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0" y="1417320"/>
            <a:ext cx="0" cy="201168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759952" y="103327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59952" y="1033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0" y="20574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137392" y="16733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1137392" y="16733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66560" y="34290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82512" y="44165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82512" y="44165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0" y="3429000"/>
            <a:ext cx="0" cy="201168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759952" y="505663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59952" y="50566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Thermo-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44000" y="34290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1137392" y="44165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1137392" y="44165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Research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federated learning framework for IoT intrusion detection that adapts the global model per client.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58184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58184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58184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58184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resource-constrained edge devices via lightweight local models and reduced communication overhead.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55664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711696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11696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11696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11696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by keeping raw traffic on-device and sharing only model updates.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09176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665208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6520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65208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65208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benchmark IoT/IDS datasets under realistic non-IID conditions, comparing to FedAvg/FedAvgM baselines.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Base Papers Anchoring This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6F8"/>
          </a:solidFill>
          <a:ln w="12700">
            <a:solidFill>
              <a:srgbClr val="E4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299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Zahid &amp; Bharati (2025)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cybersecurity in IoT systems: a hybrid deep learning approach for real-time attack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CNN + BiLSTM hybrid, LASSO feature selection, SMOTE class balancing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99.9% / 99.8% / 98.0% accuracy on KDDCup99, NSL-KDD, CIC-IDS-2017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B2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centralized training — no privacy preservation, no federated / personalized element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6F8"/>
          </a:solidFill>
          <a:ln w="12700">
            <a:solidFill>
              <a:srgbClr val="E4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29400" y="20299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Khraisat et al. (2025)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9400" y="23591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 for intrusion detection in IoT environments: a privacy-preserving strategy (PEIoT-DS)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FedAvg vs. FedAvgM aggregation with a deep autoencoder, SMPC + differential privacy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42062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95.05% accuracy on N-BaIoT (9 devices), FedAvgM converges faster (17 vs 24 rounds)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2940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B2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single global model — no per-device personalization; non-IID handling is basic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PERSONALIZED FL FOR IDS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&amp; Non-IID-Aware Federated 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6052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11109960" cy="384048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51960" y="1581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23960" y="15819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Thein et al. (2024), FGCS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PFL-based IDS; studies poisoning attacks and defenses in personalized aggregation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205740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personalization itself is under-studied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PFL for IoT IDS (2025), Sci.Direct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1960" y="2816352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 with FedAMP-style attentive message passing across heterogeneous clients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fairness vs per-client accuracy trade-off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PP-HFFL (2025), fog-assisted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3575304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fog + PFL with differential privacy on RT-IoT2022 &amp; CIC-IoT2023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575304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cost of hierarchical fog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34256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(2025/26), arXiv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4334256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knowledge distillation for personalized FL-IDS in heterogeneous IoT nets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4334256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overhead on constrained clients unresolved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PROTEAN (2025), arXiv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51960" y="5093208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Prototype-based knowledge sharing for non-IID federated IDS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093208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exchange privacy risk not fully quantified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G-PFL-ID (2026), IoT journal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51960" y="585216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Graph-driven PFL, unsupervised DeepSVDD + FedReg on IoT-23 / N-BaIoT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23960" y="585216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setting sacrifices some detection precision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LIGHTWEIGHT / RESOURCE-AWARE FL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&amp; Resource-Constrained FL-IDS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6052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11109960" cy="384048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51960" y="1581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23960" y="15819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Belarbi et al. (2023), GLOBECOM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DBN/DNN IDS; shows up to 50% accuracy drop under non-IID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205740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non-IID as the core open problem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FL-IDS (2023), PMC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1960" y="2816352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+ semi-supervised sampling for constrained IoT clients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 trade-off from summary-statistic sharing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FL botnet detection (2025), arXiv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3575304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lightweight ML (DT, KNN, SVM, LR) under FL for botnet detection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575304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shallow models; no deep personalization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34256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EAFRA/6G-CPS framework (2025/26), Sci.Rep.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4334256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Energy-adaptive federated reinforcement aggregation for edge-centric 6G IoT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4334256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Reinforcement-tuned aggregation adds design complexity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FL-IDS on ESP32 (2026), MDPI Future Internet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51960" y="5093208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Hardware-validated lightweight cryptography (SPECK/SIMON) for MCU-class FL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093208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overhead on ultra-constrained MCUs still notable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FL-IDS Resource-Constrained IoT (2026), TechRxiv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51960" y="585216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FL-IDS tailored to resource-bound IoT deployments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23960" y="585216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not addressed alongside efficiency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AGGREGATION, HETEROGENEITY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Strategies &amp; Data Heterogeneity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6052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11109960" cy="384048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51960" y="1581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23960" y="15819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Alsaleh et al. (2025), Sensors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Heterogeneity-aware semi-decentralized FL + BiLSTM for lightweight IoT IDS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205740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Semi-decentralized coordination overhead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Anwer et al. (2025), Ad Hoc Networks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1960" y="2816352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+ LSTM for advanced IIoT intrusion detection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heterogeneity not client-personalized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Karunamurthy et al. (2025), Sci. Reports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3575304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FL aggregation for IoT intrusion detection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575304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targets global, not per-client, 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34256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FedP3E (2025), arXiv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4334256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prototype exchange for non-IID malware detection, cross-silo FL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4334256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Cross-silo assumptions weaker for cross-device IoT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FL-enabled lightweight WSN-IDS (2025), Sci.Direct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51960" y="5093208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GRU under FL for DDoS detection in smart-city WSNs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093208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attack-type focus (DDoS only)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Hamad et al. (2025), IEEE Access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51960" y="585216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FL approaches for IoT intrusion detection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23960" y="585216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— highlights personalization + efficiency as open gaps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This Work Targets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joint optimization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Personalization, privacy, and resource-efficiency are studied in isolation, rarely together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19672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1967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Non-IID accuracy loss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65176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Global-only FL (FedAvg/FedAvgM) loses up to ~50% accuracy under realistic device heterogeneity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Constrained-device blind spot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89204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personalized FL methods (distillation, prototypes, graphs) assume capable client hardware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19672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1967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real IoT validation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89204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approaches are validated on generic benchmarks (MNIST/CIFAR) rather than IoT-specific traffic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PERSONALIZED FEDERATED LEARNING?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Comparison Across Approaches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01" name="HeaderBg"/>
          <p:cNvSpPr/>
          <p:nvPr/>
        </p:nvSpPr>
        <p:spPr>
          <a:xfrm>
            <a:off x="502920" y="1600200"/>
            <a:ext cx="11183112" cy="50292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"/>
          <p:cNvSpPr txBox="1"/>
          <p:nvPr/>
        </p:nvSpPr>
        <p:spPr>
          <a:xfrm>
            <a:off x="612648" y="16002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Approach</a:t>
            </a:r>
          </a:p>
        </p:txBody>
      </p:sp>
      <p:sp>
        <p:nvSpPr>
          <p:cNvPr id="1003" name="Text"/>
          <p:cNvSpPr txBox="1"/>
          <p:nvPr/>
        </p:nvSpPr>
        <p:spPr>
          <a:xfrm>
            <a:off x="3630168" y="160020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Privacy</a:t>
            </a:r>
          </a:p>
        </p:txBody>
      </p:sp>
      <p:sp>
        <p:nvSpPr>
          <p:cNvPr id="1004" name="Text"/>
          <p:cNvSpPr txBox="1"/>
          <p:nvPr/>
        </p:nvSpPr>
        <p:spPr>
          <a:xfrm>
            <a:off x="5504688" y="160020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Personalization</a:t>
            </a:r>
          </a:p>
        </p:txBody>
      </p:sp>
      <p:sp>
        <p:nvSpPr>
          <p:cNvPr id="1005" name="Text"/>
          <p:cNvSpPr txBox="1"/>
          <p:nvPr/>
        </p:nvSpPr>
        <p:spPr>
          <a:xfrm>
            <a:off x="7653528" y="160020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Resource Awareness</a:t>
            </a:r>
          </a:p>
        </p:txBody>
      </p:sp>
      <p:sp>
        <p:nvSpPr>
          <p:cNvPr id="1006" name="Text"/>
          <p:cNvSpPr txBox="1"/>
          <p:nvPr/>
        </p:nvSpPr>
        <p:spPr>
          <a:xfrm>
            <a:off x="9848088" y="1600200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Heterogeneous IoT Fit</a:t>
            </a:r>
          </a:p>
        </p:txBody>
      </p:sp>
      <p:sp>
        <p:nvSpPr>
          <p:cNvPr id="1007" name="RowBg0"/>
          <p:cNvSpPr/>
          <p:nvPr/>
        </p:nvSpPr>
        <p:spPr>
          <a:xfrm>
            <a:off x="502920" y="2103120"/>
            <a:ext cx="11183112" cy="78867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"/>
          <p:cNvSpPr txBox="1"/>
          <p:nvPr/>
        </p:nvSpPr>
        <p:spPr>
          <a:xfrm>
            <a:off x="612648" y="2103120"/>
            <a:ext cx="2798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</a:rPr>
              <a:t>Centralized ML</a:t>
            </a:r>
          </a:p>
        </p:txBody>
      </p:sp>
      <p:sp>
        <p:nvSpPr>
          <p:cNvPr id="1009" name="Text"/>
          <p:cNvSpPr txBox="1"/>
          <p:nvPr/>
        </p:nvSpPr>
        <p:spPr>
          <a:xfrm>
            <a:off x="3630168" y="2103120"/>
            <a:ext cx="1655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Low</a:t>
            </a:r>
          </a:p>
        </p:txBody>
      </p:sp>
      <p:sp>
        <p:nvSpPr>
          <p:cNvPr id="1010" name="Text"/>
          <p:cNvSpPr txBox="1"/>
          <p:nvPr/>
        </p:nvSpPr>
        <p:spPr>
          <a:xfrm>
            <a:off x="5504688" y="2103120"/>
            <a:ext cx="192938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Low</a:t>
            </a:r>
          </a:p>
        </p:txBody>
      </p:sp>
      <p:sp>
        <p:nvSpPr>
          <p:cNvPr id="1011" name="Text"/>
          <p:cNvSpPr txBox="1"/>
          <p:nvPr/>
        </p:nvSpPr>
        <p:spPr>
          <a:xfrm>
            <a:off x="7653528" y="2103120"/>
            <a:ext cx="197510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Medium / Low</a:t>
            </a:r>
          </a:p>
        </p:txBody>
      </p:sp>
      <p:sp>
        <p:nvSpPr>
          <p:cNvPr id="1012" name="Text"/>
          <p:cNvSpPr txBox="1"/>
          <p:nvPr/>
        </p:nvSpPr>
        <p:spPr>
          <a:xfrm>
            <a:off x="9848088" y="2103120"/>
            <a:ext cx="1728216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Limited</a:t>
            </a:r>
          </a:p>
        </p:txBody>
      </p:sp>
      <p:sp>
        <p:nvSpPr>
          <p:cNvPr id="1013" name="RowBg1"/>
          <p:cNvSpPr/>
          <p:nvPr/>
        </p:nvSpPr>
        <p:spPr>
          <a:xfrm>
            <a:off x="502920" y="2891790"/>
            <a:ext cx="11183112" cy="7886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"/>
          <p:cNvSpPr txBox="1"/>
          <p:nvPr/>
        </p:nvSpPr>
        <p:spPr>
          <a:xfrm>
            <a:off x="612648" y="2891790"/>
            <a:ext cx="2798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</a:rPr>
              <a:t>Vanilla Federated Learning</a:t>
            </a:r>
          </a:p>
        </p:txBody>
      </p:sp>
      <p:sp>
        <p:nvSpPr>
          <p:cNvPr id="1015" name="Text"/>
          <p:cNvSpPr txBox="1"/>
          <p:nvPr/>
        </p:nvSpPr>
        <p:spPr>
          <a:xfrm>
            <a:off x="3630168" y="2891790"/>
            <a:ext cx="1655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Better</a:t>
            </a:r>
          </a:p>
        </p:txBody>
      </p:sp>
      <p:sp>
        <p:nvSpPr>
          <p:cNvPr id="1016" name="Text"/>
          <p:cNvSpPr txBox="1"/>
          <p:nvPr/>
        </p:nvSpPr>
        <p:spPr>
          <a:xfrm>
            <a:off x="5504688" y="2891790"/>
            <a:ext cx="192938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Low</a:t>
            </a:r>
          </a:p>
        </p:txBody>
      </p:sp>
      <p:sp>
        <p:nvSpPr>
          <p:cNvPr id="1017" name="Text"/>
          <p:cNvSpPr txBox="1"/>
          <p:nvPr/>
        </p:nvSpPr>
        <p:spPr>
          <a:xfrm>
            <a:off x="7653528" y="2891790"/>
            <a:ext cx="197510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Medium</a:t>
            </a:r>
          </a:p>
        </p:txBody>
      </p:sp>
      <p:sp>
        <p:nvSpPr>
          <p:cNvPr id="1018" name="Text"/>
          <p:cNvSpPr txBox="1"/>
          <p:nvPr/>
        </p:nvSpPr>
        <p:spPr>
          <a:xfrm>
            <a:off x="9848088" y="2891790"/>
            <a:ext cx="1728216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Limited</a:t>
            </a:r>
          </a:p>
        </p:txBody>
      </p:sp>
      <p:sp>
        <p:nvSpPr>
          <p:cNvPr id="1019" name="RowBg2"/>
          <p:cNvSpPr/>
          <p:nvPr/>
        </p:nvSpPr>
        <p:spPr>
          <a:xfrm>
            <a:off x="502920" y="3680460"/>
            <a:ext cx="11183112" cy="78867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0" name="Text"/>
          <p:cNvSpPr txBox="1"/>
          <p:nvPr/>
        </p:nvSpPr>
        <p:spPr>
          <a:xfrm>
            <a:off x="612648" y="3680460"/>
            <a:ext cx="2798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</a:rPr>
              <a:t>Personalized FL</a:t>
            </a:r>
          </a:p>
        </p:txBody>
      </p:sp>
      <p:sp>
        <p:nvSpPr>
          <p:cNvPr id="1021" name="Text"/>
          <p:cNvSpPr txBox="1"/>
          <p:nvPr/>
        </p:nvSpPr>
        <p:spPr>
          <a:xfrm>
            <a:off x="3630168" y="3680460"/>
            <a:ext cx="1655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Better</a:t>
            </a:r>
          </a:p>
        </p:txBody>
      </p:sp>
      <p:sp>
        <p:nvSpPr>
          <p:cNvPr id="1022" name="Text"/>
          <p:cNvSpPr txBox="1"/>
          <p:nvPr/>
        </p:nvSpPr>
        <p:spPr>
          <a:xfrm>
            <a:off x="5504688" y="3680460"/>
            <a:ext cx="192938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High</a:t>
            </a:r>
          </a:p>
        </p:txBody>
      </p:sp>
      <p:sp>
        <p:nvSpPr>
          <p:cNvPr id="1023" name="Text"/>
          <p:cNvSpPr txBox="1"/>
          <p:nvPr/>
        </p:nvSpPr>
        <p:spPr>
          <a:xfrm>
            <a:off x="7653528" y="3680460"/>
            <a:ext cx="197510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Medium</a:t>
            </a:r>
          </a:p>
        </p:txBody>
      </p:sp>
      <p:sp>
        <p:nvSpPr>
          <p:cNvPr id="1024" name="Text"/>
          <p:cNvSpPr txBox="1"/>
          <p:nvPr/>
        </p:nvSpPr>
        <p:spPr>
          <a:xfrm>
            <a:off x="9848088" y="3680460"/>
            <a:ext cx="1728216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</a:rPr>
              <a:t>Better</a:t>
            </a:r>
          </a:p>
        </p:txBody>
      </p:sp>
      <p:sp>
        <p:nvSpPr>
          <p:cNvPr id="1025" name="RowBg3"/>
          <p:cNvSpPr/>
          <p:nvPr/>
        </p:nvSpPr>
        <p:spPr>
          <a:xfrm>
            <a:off x="502920" y="4469130"/>
            <a:ext cx="11183112" cy="7886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6" name="Text"/>
          <p:cNvSpPr txBox="1"/>
          <p:nvPr/>
        </p:nvSpPr>
        <p:spPr>
          <a:xfrm>
            <a:off x="612648" y="4469130"/>
            <a:ext cx="2798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</a:rPr>
              <a:t>Proposed Approach</a:t>
            </a:r>
          </a:p>
        </p:txBody>
      </p:sp>
      <p:sp>
        <p:nvSpPr>
          <p:cNvPr id="1027" name="Text"/>
          <p:cNvSpPr txBox="1"/>
          <p:nvPr/>
        </p:nvSpPr>
        <p:spPr>
          <a:xfrm>
            <a:off x="3630168" y="4469130"/>
            <a:ext cx="165506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</a:rPr>
              <a:t>Better</a:t>
            </a:r>
          </a:p>
        </p:txBody>
      </p:sp>
      <p:sp>
        <p:nvSpPr>
          <p:cNvPr id="1028" name="Text"/>
          <p:cNvSpPr txBox="1"/>
          <p:nvPr/>
        </p:nvSpPr>
        <p:spPr>
          <a:xfrm>
            <a:off x="5504688" y="4469130"/>
            <a:ext cx="192938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</a:rPr>
              <a:t>High</a:t>
            </a:r>
          </a:p>
        </p:txBody>
      </p:sp>
      <p:sp>
        <p:nvSpPr>
          <p:cNvPr id="1029" name="Text"/>
          <p:cNvSpPr txBox="1"/>
          <p:nvPr/>
        </p:nvSpPr>
        <p:spPr>
          <a:xfrm>
            <a:off x="7653528" y="4469130"/>
            <a:ext cx="1975104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</a:rPr>
              <a:t>High</a:t>
            </a:r>
          </a:p>
        </p:txBody>
      </p:sp>
      <p:sp>
        <p:nvSpPr>
          <p:cNvPr id="1030" name="Text"/>
          <p:cNvSpPr txBox="1"/>
          <p:nvPr/>
        </p:nvSpPr>
        <p:spPr>
          <a:xfrm>
            <a:off x="9848088" y="4469130"/>
            <a:ext cx="1728216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</a:rPr>
              <a:t>High</a:t>
            </a:r>
          </a:p>
        </p:txBody>
      </p:sp>
      <p:sp>
        <p:nvSpPr>
          <p:cNvPr id="1031" name="Outline"/>
          <p:cNvSpPr/>
          <p:nvPr/>
        </p:nvSpPr>
        <p:spPr>
          <a:xfrm>
            <a:off x="502920" y="4469130"/>
            <a:ext cx="11183112" cy="788670"/>
          </a:xfrm>
          <a:prstGeom prst="rect">
            <a:avLst/>
          </a:prstGeom>
          <a:noFill/>
          <a:ln w="22225">
            <a:solidFill>
              <a:srgbClr val="2FE8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2" name="Text"/>
          <p:cNvSpPr txBox="1"/>
          <p:nvPr/>
        </p:nvSpPr>
        <p:spPr>
          <a:xfrm>
            <a:off x="502920" y="542239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</a:rPr>
              <a:t>Conceptual comparison based on the literature reviewed — not measured experimental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Architecture: Client–Server Loop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001" name="ClientBox0"/>
          <p:cNvSpPr/>
          <p:nvPr/>
        </p:nvSpPr>
        <p:spPr>
          <a:xfrm>
            <a:off x="502920" y="141732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"/>
          <p:cNvSpPr txBox="1"/>
          <p:nvPr/>
        </p:nvSpPr>
        <p:spPr>
          <a:xfrm>
            <a:off x="594360" y="1472184"/>
            <a:ext cx="3291840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IoT Client 1 — Smart Camera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Preprocess + feature select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Lightweight local model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Personalization adapt</a:t>
            </a:r>
          </a:p>
        </p:txBody>
      </p:sp>
      <p:sp>
        <p:nvSpPr>
          <p:cNvPr id="1003" name="ClientBox1"/>
          <p:cNvSpPr/>
          <p:nvPr/>
        </p:nvSpPr>
        <p:spPr>
          <a:xfrm>
            <a:off x="4265676" y="141732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4" name="Text"/>
          <p:cNvSpPr txBox="1"/>
          <p:nvPr/>
        </p:nvSpPr>
        <p:spPr>
          <a:xfrm>
            <a:off x="4357116" y="1472184"/>
            <a:ext cx="3291840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IoT Client 2 — Smart Lock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Preprocess + feature select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Lightweight local model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Personalization adapt</a:t>
            </a:r>
          </a:p>
        </p:txBody>
      </p:sp>
      <p:sp>
        <p:nvSpPr>
          <p:cNvPr id="1005" name="ClientBox2"/>
          <p:cNvSpPr/>
          <p:nvPr/>
        </p:nvSpPr>
        <p:spPr>
          <a:xfrm>
            <a:off x="8028432" y="141732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6" name="Text"/>
          <p:cNvSpPr txBox="1"/>
          <p:nvPr/>
        </p:nvSpPr>
        <p:spPr>
          <a:xfrm>
            <a:off x="8119872" y="1472184"/>
            <a:ext cx="3291840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IoT Client 3 — Sensor Node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Preprocess + feature select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Lightweight local model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• Personalization adapt</a:t>
            </a:r>
          </a:p>
        </p:txBody>
      </p:sp>
      <p:sp>
        <p:nvSpPr>
          <p:cNvPr id="1007" name="Line"/>
          <p:cNvSpPr/>
          <p:nvPr/>
        </p:nvSpPr>
        <p:spPr>
          <a:xfrm>
            <a:off x="2240280" y="2926080"/>
            <a:ext cx="1" cy="201168"/>
          </a:xfrm>
          <a:prstGeom prst="line">
            <a:avLst/>
          </a:prstGeom>
          <a:ln w="19050">
            <a:solidFill>
              <a:srgbClr val="0B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Line"/>
          <p:cNvSpPr/>
          <p:nvPr/>
        </p:nvSpPr>
        <p:spPr>
          <a:xfrm>
            <a:off x="6003036" y="2926080"/>
            <a:ext cx="1" cy="201168"/>
          </a:xfrm>
          <a:prstGeom prst="line">
            <a:avLst/>
          </a:prstGeom>
          <a:ln w="19050">
            <a:solidFill>
              <a:srgbClr val="0B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9" name="Line"/>
          <p:cNvSpPr/>
          <p:nvPr/>
        </p:nvSpPr>
        <p:spPr>
          <a:xfrm>
            <a:off x="9765792" y="2926080"/>
            <a:ext cx="1" cy="201168"/>
          </a:xfrm>
          <a:prstGeom prst="line">
            <a:avLst/>
          </a:prstGeom>
          <a:ln w="19050">
            <a:solidFill>
              <a:srgbClr val="0B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Line"/>
          <p:cNvSpPr/>
          <p:nvPr/>
        </p:nvSpPr>
        <p:spPr>
          <a:xfrm>
            <a:off x="2240280" y="3127248"/>
            <a:ext cx="7525512" cy="1"/>
          </a:xfrm>
          <a:prstGeom prst="line">
            <a:avLst/>
          </a:prstGeom>
          <a:ln w="19050">
            <a:solidFill>
              <a:srgbClr val="0B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1" name="Line"/>
          <p:cNvSpPr/>
          <p:nvPr/>
        </p:nvSpPr>
        <p:spPr>
          <a:xfrm flipV="1">
            <a:off x="5592928" y="3127248"/>
            <a:ext cx="1" cy="502920"/>
          </a:xfrm>
          <a:prstGeom prst="line">
            <a:avLst/>
          </a:prstGeom>
          <a:ln w="31750">
            <a:solidFill>
              <a:srgbClr val="2FE8C5"/>
            </a:solidFill>
            <a:prstDash val="soli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12" name="Text"/>
          <p:cNvSpPr txBox="1"/>
          <p:nvPr/>
        </p:nvSpPr>
        <p:spPr>
          <a:xfrm>
            <a:off x="3718408" y="31455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E8C5"/>
                </a:solidFill>
                <a:latin typeface="Calibri" pitchFamily="34" charset="0"/>
              </a:rPr>
              <a:t>Encrypted model updates only ↑</a:t>
            </a:r>
          </a:p>
        </p:txBody>
      </p:sp>
      <p:sp>
        <p:nvSpPr>
          <p:cNvPr id="1013" name="Line"/>
          <p:cNvSpPr/>
          <p:nvPr/>
        </p:nvSpPr>
        <p:spPr>
          <a:xfrm>
            <a:off x="6598768" y="3127248"/>
            <a:ext cx="1" cy="502920"/>
          </a:xfrm>
          <a:prstGeom prst="line">
            <a:avLst/>
          </a:prstGeom>
          <a:ln w="31750">
            <a:solidFill>
              <a:srgbClr val="8FA6B8"/>
            </a:solidFill>
            <a:prstDash val="soli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"/>
          <p:cNvSpPr txBox="1"/>
          <p:nvPr/>
        </p:nvSpPr>
        <p:spPr>
          <a:xfrm>
            <a:off x="6644488" y="31455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FA6B8"/>
                </a:solidFill>
                <a:latin typeface="Calibri" pitchFamily="34" charset="0"/>
              </a:rPr>
              <a:t>↓ Personalized global model</a:t>
            </a:r>
          </a:p>
        </p:txBody>
      </p:sp>
      <p:sp>
        <p:nvSpPr>
          <p:cNvPr id="1015" name="ServerBox"/>
          <p:cNvSpPr/>
          <p:nvPr/>
        </p:nvSpPr>
        <p:spPr>
          <a:xfrm>
            <a:off x="3169768" y="3630168"/>
            <a:ext cx="5852160" cy="105156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6" name="Text"/>
          <p:cNvSpPr txBox="1"/>
          <p:nvPr/>
        </p:nvSpPr>
        <p:spPr>
          <a:xfrm>
            <a:off x="3352648" y="3685032"/>
            <a:ext cx="54864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E8C5"/>
                </a:solidFill>
                <a:latin typeface="Cambria" pitchFamily="34" charset="0"/>
              </a:rPr>
              <a:t>CENTRAL SERVER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Secure Aggregation  •  FedAvgM  •  Global Model Management</a:t>
            </a:r>
          </a:p>
        </p:txBody>
      </p:sp>
      <p:sp>
        <p:nvSpPr>
          <p:cNvPr id="1017" name="Text"/>
          <p:cNvSpPr txBox="1"/>
          <p:nvPr/>
        </p:nvSpPr>
        <p:spPr>
          <a:xfrm>
            <a:off x="502920" y="4791456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</a:rPr>
              <a:t>Raw traffic never leaves the client — only protected model updates cross the network, and the updated global model is redistributed for on-device personalization each round.</a:t>
            </a:r>
          </a:p>
        </p:txBody>
      </p:sp>
      <p:sp>
        <p:nvSpPr>
          <p:cNvPr id="1001" name="InfoCard0"/>
          <p:cNvSpPr/>
          <p:nvPr/>
        </p:nvSpPr>
        <p:spPr>
          <a:xfrm>
            <a:off x="502920" y="525780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"/>
          <p:cNvSpPr txBox="1"/>
          <p:nvPr/>
        </p:nvSpPr>
        <p:spPr>
          <a:xfrm>
            <a:off x="704088" y="5330952"/>
            <a:ext cx="3163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0"/>
                </a:solidFill>
                <a:latin typeface="Cambria" pitchFamily="34" charset="0"/>
              </a:rPr>
              <a:t>Privacy-First</a:t>
            </a:r>
          </a:p>
        </p:txBody>
      </p:sp>
      <p:sp>
        <p:nvSpPr>
          <p:cNvPr id="1003" name="Text"/>
          <p:cNvSpPr txBox="1"/>
          <p:nvPr/>
        </p:nvSpPr>
        <p:spPr>
          <a:xfrm>
            <a:off x="704088" y="5641848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69" dirty="0">
                <a:solidFill>
                  <a:srgbClr val="5A6B78"/>
                </a:solidFill>
                <a:latin typeface="Calibri" pitchFamily="34" charset="0"/>
              </a:rPr>
              <a:t>Raw traffic never leaves the device — only protected model updates are shared.</a:t>
            </a:r>
          </a:p>
        </p:txBody>
      </p:sp>
      <p:sp>
        <p:nvSpPr>
          <p:cNvPr id="1004" name="InfoCard1"/>
          <p:cNvSpPr/>
          <p:nvPr/>
        </p:nvSpPr>
        <p:spPr>
          <a:xfrm>
            <a:off x="4325112" y="525780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5" name="Text"/>
          <p:cNvSpPr txBox="1"/>
          <p:nvPr/>
        </p:nvSpPr>
        <p:spPr>
          <a:xfrm>
            <a:off x="4526280" y="5330952"/>
            <a:ext cx="3163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0"/>
                </a:solidFill>
                <a:latin typeface="Cambria" pitchFamily="34" charset="0"/>
              </a:rPr>
              <a:t>Personalization Layer</a:t>
            </a:r>
          </a:p>
        </p:txBody>
      </p:sp>
      <p:sp>
        <p:nvSpPr>
          <p:cNvPr id="1006" name="Text"/>
          <p:cNvSpPr txBox="1"/>
          <p:nvPr/>
        </p:nvSpPr>
        <p:spPr>
          <a:xfrm>
            <a:off x="4526280" y="5641848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69" dirty="0">
                <a:solidFill>
                  <a:srgbClr val="5A6B78"/>
                </a:solidFill>
                <a:latin typeface="Calibri" pitchFamily="34" charset="0"/>
              </a:rPr>
              <a:t>A lightweight adaptation step tailors the shared global model to each client's traffic.</a:t>
            </a:r>
          </a:p>
        </p:txBody>
      </p:sp>
      <p:sp>
        <p:nvSpPr>
          <p:cNvPr id="1007" name="InfoCard2"/>
          <p:cNvSpPr/>
          <p:nvPr/>
        </p:nvSpPr>
        <p:spPr>
          <a:xfrm>
            <a:off x="8147304" y="525780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"/>
          <p:cNvSpPr txBox="1"/>
          <p:nvPr/>
        </p:nvSpPr>
        <p:spPr>
          <a:xfrm>
            <a:off x="8348472" y="5330952"/>
            <a:ext cx="3163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0"/>
                </a:solidFill>
                <a:latin typeface="Cambria" pitchFamily="34" charset="0"/>
              </a:rPr>
              <a:t>Resource-Awareness</a:t>
            </a:r>
          </a:p>
        </p:txBody>
      </p:sp>
      <p:sp>
        <p:nvSpPr>
          <p:cNvPr id="1009" name="Text"/>
          <p:cNvSpPr txBox="1"/>
          <p:nvPr/>
        </p:nvSpPr>
        <p:spPr>
          <a:xfrm>
            <a:off x="8348472" y="5641848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69" dirty="0">
                <a:solidFill>
                  <a:srgbClr val="5A6B78"/>
                </a:solidFill>
                <a:latin typeface="Calibri" pitchFamily="34" charset="0"/>
              </a:rPr>
              <a:t>Local epochs, model size and communication are scaled to each device's compute budget.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Federated Training Round — Sequence of Events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001" name="Line"/>
          <p:cNvSpPr/>
          <p:nvPr/>
        </p:nvSpPr>
        <p:spPr>
          <a:xfrm>
            <a:off x="1463040" y="1554480"/>
            <a:ext cx="1" cy="4297680"/>
          </a:xfrm>
          <a:prstGeom prst="line">
            <a:avLst/>
          </a:prstGeom>
          <a:ln w="19050">
            <a:solidFill>
              <a:srgbClr val="0B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Line"/>
          <p:cNvSpPr/>
          <p:nvPr/>
        </p:nvSpPr>
        <p:spPr>
          <a:xfrm>
            <a:off x="10607040" y="1554480"/>
            <a:ext cx="1" cy="4297680"/>
          </a:xfrm>
          <a:prstGeom prst="line">
            <a:avLst/>
          </a:prstGeom>
          <a:ln w="19050">
            <a:solidFill>
              <a:srgbClr val="0B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Text"/>
          <p:cNvSpPr txBox="1"/>
          <p:nvPr/>
        </p:nvSpPr>
        <p:spPr>
          <a:xfrm>
            <a:off x="45720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0"/>
                </a:solidFill>
                <a:latin typeface="Cambria" pitchFamily="34" charset="0"/>
              </a:rPr>
              <a:t>SERVER</a:t>
            </a:r>
          </a:p>
        </p:txBody>
      </p:sp>
      <p:sp>
        <p:nvSpPr>
          <p:cNvPr id="1004" name="Text"/>
          <p:cNvSpPr txBox="1"/>
          <p:nvPr/>
        </p:nvSpPr>
        <p:spPr>
          <a:xfrm>
            <a:off x="960120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0"/>
                </a:solidFill>
                <a:latin typeface="Cambria" pitchFamily="34" charset="0"/>
              </a:rPr>
              <a:t>IoT CLIENT</a:t>
            </a:r>
          </a:p>
        </p:txBody>
      </p:sp>
      <p:sp>
        <p:nvSpPr>
          <p:cNvPr id="1005" name="Line"/>
          <p:cNvSpPr/>
          <p:nvPr/>
        </p:nvSpPr>
        <p:spPr>
          <a:xfrm>
            <a:off x="1463040" y="1712062"/>
            <a:ext cx="9144000" cy="1"/>
          </a:xfrm>
          <a:prstGeom prst="line">
            <a:avLst/>
          </a:prstGeom>
          <a:ln w="27940">
            <a:solidFill>
              <a:srgbClr val="1C7293"/>
            </a:solidFill>
            <a:prstDash val="soli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06" name="Badge0"/>
          <p:cNvSpPr/>
          <p:nvPr/>
        </p:nvSpPr>
        <p:spPr>
          <a:xfrm>
            <a:off x="621792" y="155661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7" name="Text"/>
          <p:cNvSpPr txBox="1"/>
          <p:nvPr/>
        </p:nvSpPr>
        <p:spPr>
          <a:xfrm>
            <a:off x="621792" y="15566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008" name="Text"/>
          <p:cNvSpPr txBox="1"/>
          <p:nvPr/>
        </p:nvSpPr>
        <p:spPr>
          <a:xfrm>
            <a:off x="1691640" y="176692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</a:rPr>
              <a:t>Server initializes / sends global model</a:t>
            </a:r>
          </a:p>
        </p:txBody>
      </p:sp>
      <p:sp>
        <p:nvSpPr>
          <p:cNvPr id="1009" name="Node1"/>
          <p:cNvSpPr/>
          <p:nvPr/>
        </p:nvSpPr>
        <p:spPr>
          <a:xfrm>
            <a:off x="10497312" y="231861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0" name="Badge1"/>
          <p:cNvSpPr/>
          <p:nvPr/>
        </p:nvSpPr>
        <p:spPr>
          <a:xfrm>
            <a:off x="621792" y="227289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1" name="Text"/>
          <p:cNvSpPr txBox="1"/>
          <p:nvPr/>
        </p:nvSpPr>
        <p:spPr>
          <a:xfrm>
            <a:off x="621792" y="227289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012" name="Text"/>
          <p:cNvSpPr txBox="1"/>
          <p:nvPr/>
        </p:nvSpPr>
        <p:spPr>
          <a:xfrm>
            <a:off x="1691640" y="248320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</a:rPr>
              <a:t>Client receives model &amp; trains locally on-device</a:t>
            </a:r>
          </a:p>
        </p:txBody>
      </p:sp>
      <p:sp>
        <p:nvSpPr>
          <p:cNvPr id="1013" name="Node2"/>
          <p:cNvSpPr/>
          <p:nvPr/>
        </p:nvSpPr>
        <p:spPr>
          <a:xfrm>
            <a:off x="10497312" y="303489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4" name="Badge2"/>
          <p:cNvSpPr/>
          <p:nvPr/>
        </p:nvSpPr>
        <p:spPr>
          <a:xfrm>
            <a:off x="621792" y="298917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5" name="Text"/>
          <p:cNvSpPr txBox="1"/>
          <p:nvPr/>
        </p:nvSpPr>
        <p:spPr>
          <a:xfrm>
            <a:off x="621792" y="298917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016" name="Text"/>
          <p:cNvSpPr txBox="1"/>
          <p:nvPr/>
        </p:nvSpPr>
        <p:spPr>
          <a:xfrm>
            <a:off x="1691640" y="319948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</a:rPr>
              <a:t>Client personalizes (local adaptation step)</a:t>
            </a:r>
          </a:p>
        </p:txBody>
      </p:sp>
      <p:sp>
        <p:nvSpPr>
          <p:cNvPr id="1017" name="Line"/>
          <p:cNvSpPr/>
          <p:nvPr/>
        </p:nvSpPr>
        <p:spPr>
          <a:xfrm flipH="1">
            <a:off x="1463040" y="3860902"/>
            <a:ext cx="9144000" cy="1"/>
          </a:xfrm>
          <a:prstGeom prst="line">
            <a:avLst/>
          </a:prstGeom>
          <a:ln w="27940">
            <a:solidFill>
              <a:srgbClr val="2FE8C5"/>
            </a:solidFill>
            <a:prstDash val="soli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18" name="Badge3"/>
          <p:cNvSpPr/>
          <p:nvPr/>
        </p:nvSpPr>
        <p:spPr>
          <a:xfrm>
            <a:off x="621792" y="370545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9" name="Text"/>
          <p:cNvSpPr txBox="1"/>
          <p:nvPr/>
        </p:nvSpPr>
        <p:spPr>
          <a:xfrm>
            <a:off x="621792" y="370545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020" name="Text"/>
          <p:cNvSpPr txBox="1"/>
          <p:nvPr/>
        </p:nvSpPr>
        <p:spPr>
          <a:xfrm>
            <a:off x="1691640" y="391576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</a:rPr>
              <a:t>Client protects update (secure / private) &amp; sends</a:t>
            </a:r>
          </a:p>
        </p:txBody>
      </p:sp>
      <p:sp>
        <p:nvSpPr>
          <p:cNvPr id="1021" name="Node4"/>
          <p:cNvSpPr/>
          <p:nvPr/>
        </p:nvSpPr>
        <p:spPr>
          <a:xfrm>
            <a:off x="1353312" y="446745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2" name="Badge4"/>
          <p:cNvSpPr/>
          <p:nvPr/>
        </p:nvSpPr>
        <p:spPr>
          <a:xfrm>
            <a:off x="621792" y="442173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3" name="Text"/>
          <p:cNvSpPr txBox="1"/>
          <p:nvPr/>
        </p:nvSpPr>
        <p:spPr>
          <a:xfrm>
            <a:off x="621792" y="442173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024" name="Text"/>
          <p:cNvSpPr txBox="1"/>
          <p:nvPr/>
        </p:nvSpPr>
        <p:spPr>
          <a:xfrm>
            <a:off x="1691640" y="463204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</a:rPr>
              <a:t>Server aggregates updates (FedAvgM) into new global model</a:t>
            </a:r>
          </a:p>
        </p:txBody>
      </p:sp>
      <p:sp>
        <p:nvSpPr>
          <p:cNvPr id="1025" name="Line"/>
          <p:cNvSpPr/>
          <p:nvPr/>
        </p:nvSpPr>
        <p:spPr>
          <a:xfrm>
            <a:off x="1463040" y="5293462"/>
            <a:ext cx="9144000" cy="1"/>
          </a:xfrm>
          <a:prstGeom prst="line">
            <a:avLst/>
          </a:prstGeom>
          <a:ln w="27940">
            <a:solidFill>
              <a:srgbClr val="1C7293"/>
            </a:solidFill>
            <a:prstDash val="soli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Badge5"/>
          <p:cNvSpPr/>
          <p:nvPr/>
        </p:nvSpPr>
        <p:spPr>
          <a:xfrm>
            <a:off x="621792" y="513801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7" name="Text"/>
          <p:cNvSpPr txBox="1"/>
          <p:nvPr/>
        </p:nvSpPr>
        <p:spPr>
          <a:xfrm>
            <a:off x="621792" y="51380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1028" name="Text"/>
          <p:cNvSpPr txBox="1"/>
          <p:nvPr/>
        </p:nvSpPr>
        <p:spPr>
          <a:xfrm>
            <a:off x="1691640" y="534832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</a:rPr>
              <a:t>New personalized global model redistributed — repeat until convergence</a:t>
            </a:r>
          </a:p>
        </p:txBody>
      </p:sp>
      <p:sp>
        <p:nvSpPr>
          <p:cNvPr id="1029" name="Text"/>
          <p:cNvSpPr txBox="1"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</a:rPr>
              <a:t>Steps 1–6 repeat each communication round until the global (and personalized) models converge.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&amp; Training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80136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Local Feature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13055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statistical/flow features (as in N-BaIoT / CIC-IDS-2017 style) with LASSO-based selection to cut dimensionality before training.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56248" y="180136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 Global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6248" y="213055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CNN encoder + shallow classifier head, sized for edge inference — far lighter than the CNN-BiLSTM baseline.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331012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Personalization Step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63931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FedAvgM round, each client fine-tunes only the classifier head (or applies a prototype/meta-learning adaptation) on local data — global encoder stays shared.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56248" y="331012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Heterogeneity Handling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6248" y="363931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clustering / similarity-weighted aggregation groups devices with similar traffic before averaging, reducing non-IID drift.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481888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Resource Budgeting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514807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epochs, batch size, and update frequency are adapted per device based on a simple compute/energy profile.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55080" y="470916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56248" y="481888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Privacy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56248" y="514807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noise + secure aggregation on all transmitted updates, following the SMPC/DP pattern used in PEIoT-DS.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Client Module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local preprocessing, feature extraction, lightweight local 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99432" y="1892808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99432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48072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fine-tuning / prototype adaptation applied after each global update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21624" y="1892808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21624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70264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Module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21624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noise injection + secure aggregation (SMPC) before transmission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3886200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8496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Server 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4622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FedAvgM-based aggregation with similarity-weighted, cluster-aware combination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0832" y="3685032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99432" y="3886200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99432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48072" y="38496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Monitor Module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44622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per-device compute/energy budget; adjusts local epochs &amp; update frequency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93024" y="3685032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421624" y="3886200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421624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70264" y="38496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Module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21624" y="44622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FPR, convergence rounds, communication cost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939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N-BaIoT — </a:t>
            </a: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real IoT devices, Mirai/BASHLITE/Gafgyt botnet traffic — natural non-IID split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15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/ NSL-KDD / KDDCup99 — </a:t>
            </a: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against the centralized CNN-BiLSTM hybrid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3924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TON_IoT / Bot-IoT (stretch goal) — </a:t>
            </a: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IoT-specific traffic for generalization testing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20939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 (per class)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770632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9360" y="27706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27157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(FPR) and AUC-ROC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39242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33924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Rounds-to-convergence vs FedAvg / FedAvgM baselines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014216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40142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39593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payload per round (KB/client)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4636008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09360" y="4636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45811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 time &amp; memory footprint on constrained hardware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target: </a:t>
            </a: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FedAvg (94.05% acc / 5.1% FPR) and FedAvgM (95.05% acc / 3.9% FPR) on N-BaIoT while reducing per-device accuracy variance — the core signature of successful personalization.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of This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IDS that personalizes per client without sacrificing the privacy guarantees of FedAvg/FedAvgM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E4EA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03580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local model architecture designed explicitly for resource-constrained IoT hardware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13308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similarity/cluster-aware aggregation strategy that mitigates non-IID accuracy loss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E4EA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523036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comparison against the two base papers' centralized-hybrid and vanilla-FL approaches on shared datasets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Sets Out to Answer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001" name="RQCard"/>
          <p:cNvSpPr/>
          <p:nvPr/>
        </p:nvSpPr>
        <p:spPr>
          <a:xfrm>
            <a:off x="822960" y="2148840"/>
            <a:ext cx="10543032" cy="2834640"/>
          </a:xfrm>
          <a:prstGeom prst="roundRect">
            <a:avLst>
              <a:gd name="adj" fmla="val 4500"/>
            </a:avLst>
          </a:prstGeom>
          <a:solidFill>
            <a:srgbClr val="0B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"/>
          <p:cNvSpPr txBox="1"/>
          <p:nvPr/>
        </p:nvSpPr>
        <p:spPr>
          <a:xfrm>
            <a:off x="1463040" y="2560320"/>
            <a:ext cx="92628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</a:rPr>
              <a:t>“Can personalized federated learning improve per-device intrusion detection performance under heterogeneous and resource-constrained IoT conditions, while maintaining acceptable communication and computation overhead?”</a:t>
            </a:r>
          </a:p>
        </p:txBody>
      </p:sp>
      <p:sp>
        <p:nvSpPr>
          <p:cNvPr id="1003" name="Text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</a:rPr>
              <a:t>Answered through the personalized, resource-aware federated IDS design and evaluation plan set out in this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 (selected)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Zahid, M., Bharati, T.S. (2025). Enhancing cybersecurity in IoT systems: a hybrid deep learning approach for real-time attack detection. Discover IoT, 5:73.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Khraisat, A. et al. (2025). Federated learning for intrusion detection in IoT environments: a privacy-preserving strategy. Discover IoT, 5:72.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Thein, T.T., Shiraishi, Y., Morii, M. (2024). Personalized federated learning-based IDS: poisoning attack and defense. FGCS, 153, 182-192.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McMahan, B. et al. (2017). Communication-efficient learning of deep networks from decentralized data. AISTATS / PMLR.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Hsu, T-M.H., Qi, H., Brown, M. (2019). Measuring the effects of non-identical data distribution for federated visual classification. arXiv:1909.06335.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Hamad, N.A. et al. (2025). Systematic Analysis of FL Approaches for Intrusion Detection in IoT. IEEE Access, 13.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list of 18–20 recent papers with methodology, gap, and links: see companion reference sheet.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41248" y="40233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Personalized Federated Learning for Intrusion Detection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Resource-Constrained IoT Networks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2199</Words>
  <Application>Microsoft Office PowerPoint</Application>
  <PresentationFormat>Widescreen</PresentationFormat>
  <Paragraphs>333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Namrata Prasad</cp:lastModifiedBy>
  <cp:revision>2</cp:revision>
  <dcterms:created xsi:type="dcterms:W3CDTF">2026-08-18T07:54:50Z</dcterms:created>
  <dcterms:modified xsi:type="dcterms:W3CDTF">2026-08-18T08:04:50Z</dcterms:modified>
</cp:coreProperties>
</file>